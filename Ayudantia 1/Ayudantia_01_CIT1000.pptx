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9" r:id="rId3"/>
    <p:sldId id="257" r:id="rId4"/>
    <p:sldId id="260" r:id="rId5"/>
    <p:sldId id="261" r:id="rId6"/>
    <p:sldId id="268" r:id="rId7"/>
    <p:sldId id="266" r:id="rId8"/>
    <p:sldId id="267" r:id="rId9"/>
    <p:sldId id="269" r:id="rId10"/>
    <p:sldId id="262" r:id="rId11"/>
    <p:sldId id="271" r:id="rId12"/>
    <p:sldId id="272" r:id="rId13"/>
    <p:sldId id="273" r:id="rId14"/>
    <p:sldId id="275" r:id="rId15"/>
    <p:sldId id="270" r:id="rId16"/>
    <p:sldId id="263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5A372BF-A47C-837D-E912-3633088331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0962C1-0A66-7D5A-4B8F-65AB2E1FD0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BD8D4-8051-4105-B8FD-0AE18DD8FF52}" type="datetime1">
              <a:rPr lang="es-CL" smtClean="0"/>
              <a:t>17-03-2026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F2C337-2FAA-7D1D-3E68-03694DB15B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F760F8-DA0A-026A-16D9-373CA990CB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CE44-EF1C-4CCE-BBB2-2D329F8E7E5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071540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7CBC7-BF1E-4FE5-990A-CE677526AD8A}" type="datetime1">
              <a:rPr lang="es-CL" smtClean="0"/>
              <a:t>17-03-2026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C545C-3BFD-453E-8611-555D487EC2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475237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613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73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40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92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98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253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67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803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344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944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941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Fecha: 17-03-2026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Ayudantía N°1 Programación Sec: 12 CIT1100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17F80-F03A-4A29-8C5E-6F4C091E8B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447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saias.vasquez1@mail.udp.c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D2CBF1-2226-AACE-A44E-B9066A72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115" y="1178157"/>
            <a:ext cx="10053763" cy="1972004"/>
          </a:xfrm>
        </p:spPr>
        <p:txBody>
          <a:bodyPr anchor="b">
            <a:normAutofit fontScale="90000"/>
          </a:bodyPr>
          <a:lstStyle/>
          <a:p>
            <a: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  <a:t>Ayudantía 1</a:t>
            </a:r>
            <a:b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</a:br>
            <a:b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</a:br>
            <a:r>
              <a:rPr lang="es-CL" sz="4800" b="1" noProof="0" dirty="0">
                <a:solidFill>
                  <a:srgbClr val="FFFFFF"/>
                </a:solidFill>
                <a:latin typeface="Calibri" panose="020F0502020204030204" pitchFamily="34" charset="0"/>
                <a:ea typeface="MingLiU_MSCS-ExtB" panose="020B0604030504040204" pitchFamily="18" charset="-120"/>
                <a:cs typeface="Calibri" panose="020F0502020204030204" pitchFamily="34" charset="0"/>
              </a:rPr>
              <a:t>Tipos de datos, operadores y condicionales</a:t>
            </a:r>
            <a:endParaRPr lang="es-CL" sz="4800" b="1" noProof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30FDBA-7960-E6D6-3CDE-A484269A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just"/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Contacto: 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isaias.vasquez1@mail.udp.cl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Discord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: _</a:t>
            </a:r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iszzza</a:t>
            </a:r>
            <a:endParaRPr lang="es-CL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 github.com/Isza285/Programacion-2026-01</a:t>
            </a:r>
            <a:endParaRPr lang="es-CL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Idle: colab.research.google.com</a:t>
            </a:r>
            <a:endParaRPr lang="es-CL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860DCC-2393-1050-D8C2-9D84B2149395}"/>
              </a:ext>
            </a:extLst>
          </p:cNvPr>
          <p:cNvSpPr txBox="1"/>
          <p:nvPr/>
        </p:nvSpPr>
        <p:spPr>
          <a:xfrm>
            <a:off x="1429337" y="3429000"/>
            <a:ext cx="9333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Programación | Sección: 12 | CIT 1</a:t>
            </a:r>
            <a:r>
              <a:rPr lang="es-CL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CL" sz="2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</a:t>
            </a:r>
          </a:p>
          <a:p>
            <a:pPr algn="ctr"/>
            <a:r>
              <a:rPr lang="es-CL" sz="2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Universidad Diego Portales</a:t>
            </a:r>
          </a:p>
        </p:txBody>
      </p:sp>
    </p:spTree>
    <p:extLst>
      <p:ext uri="{BB962C8B-B14F-4D97-AF65-F5344CB8AC3E}">
        <p14:creationId xmlns:p14="http://schemas.microsoft.com/office/powerpoint/2010/main" val="303185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D0554E7-B389-7788-C180-1367C5B8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Tipos de datos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767098E7-B577-82D9-C3C3-DBBB8122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BBAC66FC-F090-1483-3887-9F7F2D17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4653965F-75FE-EE47-90B1-743474CA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2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9C8BA80-D6D1-7C38-5A89-DCC7AB605AD4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1</a:t>
            </a:r>
          </a:p>
        </p:txBody>
      </p:sp>
    </p:spTree>
    <p:extLst>
      <p:ext uri="{BB962C8B-B14F-4D97-AF65-F5344CB8AC3E}">
        <p14:creationId xmlns:p14="http://schemas.microsoft.com/office/powerpoint/2010/main" val="115255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8F0D44-C48A-0256-1008-E67623C7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Tipos de datos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7CB8E0-56C0-7AFE-BCD8-6B6ACC55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70D46E2-BC71-1B4F-1B76-221AA203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AF3C0ACE-CD82-7687-ABBD-6C073AD7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3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6470F9F-469D-C805-0499-358EFDA35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56809"/>
            <a:ext cx="4114800" cy="333116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En Python existen diferentes tipos de datos, los cuales se asignan de manera automática al momento de declarar dicha variable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15F2C2E-49BE-2353-6996-5FAB8F730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366022"/>
              </p:ext>
            </p:extLst>
          </p:nvPr>
        </p:nvGraphicFramePr>
        <p:xfrm>
          <a:off x="6203456" y="1739569"/>
          <a:ext cx="5289593" cy="4565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31">
                  <a:extLst>
                    <a:ext uri="{9D8B030D-6E8A-4147-A177-3AD203B41FA5}">
                      <a16:colId xmlns:a16="http://schemas.microsoft.com/office/drawing/2014/main" val="4243523479"/>
                    </a:ext>
                  </a:extLst>
                </a:gridCol>
                <a:gridCol w="3936262">
                  <a:extLst>
                    <a:ext uri="{9D8B030D-6E8A-4147-A177-3AD203B41FA5}">
                      <a16:colId xmlns:a16="http://schemas.microsoft.com/office/drawing/2014/main" val="2137479436"/>
                    </a:ext>
                  </a:extLst>
                </a:gridCol>
              </a:tblGrid>
              <a:tr h="1024662">
                <a:tc>
                  <a:txBody>
                    <a:bodyPr/>
                    <a:lstStyle/>
                    <a:p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Tipos de datos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7877"/>
                  </a:ext>
                </a:extLst>
              </a:tr>
              <a:tr h="501883">
                <a:tc>
                  <a:txBody>
                    <a:bodyPr/>
                    <a:lstStyle/>
                    <a:p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Variables de tipo entero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541623"/>
                  </a:ext>
                </a:extLst>
              </a:tr>
              <a:tr h="441900">
                <a:tc>
                  <a:txBody>
                    <a:bodyPr/>
                    <a:lstStyle/>
                    <a:p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Float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Variables de tipo 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271159"/>
                  </a:ext>
                </a:extLst>
              </a:tr>
              <a:tr h="675556">
                <a:tc>
                  <a:txBody>
                    <a:bodyPr/>
                    <a:lstStyle/>
                    <a:p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Almacena una cadena de caracteres (Texto)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92922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Bool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Booleanos indican verdadero o falso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930194"/>
                  </a:ext>
                </a:extLst>
              </a:tr>
              <a:tr h="692339">
                <a:tc>
                  <a:txBody>
                    <a:bodyPr/>
                    <a:lstStyle/>
                    <a:p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 listas almacenan variables de uno o mas tipos, incluso listas dentro de listas, se puede acceder a la variable a través de su índice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23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52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5AD41767-3778-278B-E792-D7C10643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27935970-FD4E-A579-BAC4-A136D687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E05C567-1496-DE62-F458-0FBE373A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4</a:t>
            </a:fld>
            <a:endParaRPr lang="es-CL" noProof="0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0BFB263-5D31-E04A-4097-99F2773F3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64" y="-407437"/>
            <a:ext cx="4480711" cy="401677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L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Ejemplos: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2CF474-0274-E492-E741-100188AC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538" y="136525"/>
            <a:ext cx="5912698" cy="2821201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670E55C-A7D8-23F4-29B4-6F61234853BA}"/>
              </a:ext>
            </a:extLst>
          </p:cNvPr>
          <p:cNvSpPr txBox="1">
            <a:spLocks/>
          </p:cNvSpPr>
          <p:nvPr/>
        </p:nvSpPr>
        <p:spPr>
          <a:xfrm>
            <a:off x="679764" y="2522138"/>
            <a:ext cx="4480711" cy="4016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CL" b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Conversión de tipos de datos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Es posible transformar un tipo de dato a otro tipo de dato utilizando las siguientes funciones:</a:t>
            </a:r>
          </a:p>
          <a:p>
            <a:pPr algn="just"/>
            <a:r>
              <a:rPr lang="es-CL" sz="24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str</a:t>
            </a:r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(): transforma a texto</a:t>
            </a:r>
          </a:p>
          <a:p>
            <a:pPr algn="just"/>
            <a:r>
              <a:rPr lang="es-CL" sz="24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(): transforma a entero</a:t>
            </a:r>
          </a:p>
          <a:p>
            <a:pPr algn="just"/>
            <a:r>
              <a:rPr lang="es-CL" sz="24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float</a:t>
            </a:r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(): transforma a flotante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744D1BD-7321-032F-FF65-BE5B786C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044" y="2979165"/>
            <a:ext cx="4480711" cy="338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3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B2162-DA74-D7D7-E951-DF62D4536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DA8E61A-BCAA-7078-7C16-29786E96F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469FF5-8FFF-6D01-6E14-7DEB21EA8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D75595-476B-86BD-27D4-2D917A292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4F23D0-7104-F1FB-A284-BE9FFADF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817776-3B26-91CB-3663-163336D4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70353F-8E62-5C19-5815-129B6FB3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Entrada y salida de datos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5DFDC1-85BF-4C7F-488C-6467F77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AA257C4C-5455-C9AB-CA2B-FA62AEE9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51943585-424F-7837-5889-258C67B1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5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35C905-E0EF-04B2-44A5-92305521D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3" y="838315"/>
            <a:ext cx="4114800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Para la salida de texto en consola se tiene lo siguiente: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58D529F-970D-1F8F-79A7-A4E14197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846" y="1719037"/>
            <a:ext cx="6544901" cy="1921915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178F119-973D-5B3F-BE2A-A372669F7A0B}"/>
              </a:ext>
            </a:extLst>
          </p:cNvPr>
          <p:cNvSpPr txBox="1">
            <a:spLocks/>
          </p:cNvSpPr>
          <p:nvPr/>
        </p:nvSpPr>
        <p:spPr>
          <a:xfrm>
            <a:off x="685793" y="2880104"/>
            <a:ext cx="4114800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En cuanto a la entrada de datos en consola se puede manejar de distintas maneras: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3DDC13B-4779-7394-B3A4-6DBF0BF91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75" y="3762557"/>
            <a:ext cx="5488239" cy="24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7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5EFEF-B7B6-C8A6-9F71-8345E782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69D6BC56-AEAB-6C2A-96DD-68DE0B5C1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2D1B473E-EC97-DAA2-19B1-57F13BEE2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70CB01CE-6450-0291-2052-34A493EA8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0063039B-C75A-2517-E3EA-05F048C7C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CA2A403D-FBDC-7E78-0D38-9750710BF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AA29CEE-21E7-5AEA-62EA-30CE31EC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Operadores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67DDB02B-435A-3A32-5229-839346649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88350F78-21FD-3D19-3EC3-392752ECF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407B3FC1-483A-93CF-A354-EBEE30BB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5F076688-7068-D449-78B9-B70E5691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B416227F-8F10-4E63-0B01-14CF4927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6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CAAE2E0-33FC-C7B8-E173-A918D35D1B7D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2</a:t>
            </a:r>
          </a:p>
        </p:txBody>
      </p:sp>
    </p:spTree>
    <p:extLst>
      <p:ext uri="{BB962C8B-B14F-4D97-AF65-F5344CB8AC3E}">
        <p14:creationId xmlns:p14="http://schemas.microsoft.com/office/powerpoint/2010/main" val="326659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DC618-F11A-76AF-2E85-D094C63F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CE42354-8DF4-A0B9-99CD-F42579956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630418-0D36-6F28-9E16-FA8B3F0F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64A8C0-6A4A-D01E-922D-A0F50FF75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364AD9-5C6F-37D8-6DC5-FE0EDFFE7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FFB226-A7F5-CA6E-0494-6D93D262F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361AF2-26C2-A957-EFB3-F65D4916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Operadores aritméticos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0112F8-7737-793A-A934-7CDBD89B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BE96525-ADBC-7EB6-DD2E-FF7CE29F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283B970-25B9-6D9A-9A7F-0A54F602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7</a:t>
            </a:fld>
            <a:endParaRPr lang="es-CL" noProof="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5BAC9A6-5B09-A42B-0F22-D45B8786B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419243"/>
              </p:ext>
            </p:extLst>
          </p:nvPr>
        </p:nvGraphicFramePr>
        <p:xfrm>
          <a:off x="2025648" y="1622745"/>
          <a:ext cx="812800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593336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085658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2650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10349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Operador (números)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960009"/>
                  </a:ext>
                </a:extLst>
              </a:tr>
              <a:tr h="337899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34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51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56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Dividir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700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**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4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5 %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85953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ADF02F5-7698-2B53-B9DE-506F612D5F81}"/>
              </a:ext>
            </a:extLst>
          </p:cNvPr>
          <p:cNvSpPr txBox="1"/>
          <p:nvPr/>
        </p:nvSpPr>
        <p:spPr>
          <a:xfrm>
            <a:off x="1371598" y="4762881"/>
            <a:ext cx="9895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Una utilidad del modulo es para identificar si tenemos un numero par o impar</a:t>
            </a:r>
            <a:b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Ejemplo: 10%2 = 0, por lo que es par (todo numero par es múltiplo de 2, por lo que al dividir 10 entre 2 el resultado es 5 y el resto de la operación es 0</a:t>
            </a:r>
          </a:p>
          <a:p>
            <a:pPr algn="just"/>
            <a:r>
              <a:rPr lang="es-CL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Ejemplo: 13%2 = 1, es un numero par (el resto de 13 dividido 2 es 1)</a:t>
            </a:r>
          </a:p>
        </p:txBody>
      </p:sp>
    </p:spTree>
    <p:extLst>
      <p:ext uri="{BB962C8B-B14F-4D97-AF65-F5344CB8AC3E}">
        <p14:creationId xmlns:p14="http://schemas.microsoft.com/office/powerpoint/2010/main" val="182524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2EB9D-D75C-F0F8-04F1-BBBD42BA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A0F017-A535-540C-A870-CAC44D418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55CAA8-91BB-FE0F-40E6-0963252FB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65CD92-0AB0-B625-6A3E-084F32471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83C5B7-041B-A9F1-BF2A-E476510D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34A68F-DE86-BC22-07D2-B5A810521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57B347-F872-B951-E629-9ACB3071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Operadores de texto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C063C6-4818-3061-EE8D-781460C2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14F47B5-D278-CEA8-C040-EB0F812E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99431A0-267E-9F68-410A-40F0D11E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8</a:t>
            </a:fld>
            <a:endParaRPr lang="es-CL" noProof="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2D4F3AD-BE57-3FDC-B3E5-86B63B5DD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51441"/>
              </p:ext>
            </p:extLst>
          </p:nvPr>
        </p:nvGraphicFramePr>
        <p:xfrm>
          <a:off x="1307596" y="1984522"/>
          <a:ext cx="9576808" cy="3788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202">
                  <a:extLst>
                    <a:ext uri="{9D8B030D-6E8A-4147-A177-3AD203B41FA5}">
                      <a16:colId xmlns:a16="http://schemas.microsoft.com/office/drawing/2014/main" val="1559333618"/>
                    </a:ext>
                  </a:extLst>
                </a:gridCol>
                <a:gridCol w="2394202">
                  <a:extLst>
                    <a:ext uri="{9D8B030D-6E8A-4147-A177-3AD203B41FA5}">
                      <a16:colId xmlns:a16="http://schemas.microsoft.com/office/drawing/2014/main" val="3208565894"/>
                    </a:ext>
                  </a:extLst>
                </a:gridCol>
                <a:gridCol w="2394202">
                  <a:extLst>
                    <a:ext uri="{9D8B030D-6E8A-4147-A177-3AD203B41FA5}">
                      <a16:colId xmlns:a16="http://schemas.microsoft.com/office/drawing/2014/main" val="4202650018"/>
                    </a:ext>
                  </a:extLst>
                </a:gridCol>
                <a:gridCol w="2394202">
                  <a:extLst>
                    <a:ext uri="{9D8B030D-6E8A-4147-A177-3AD203B41FA5}">
                      <a16:colId xmlns:a16="http://schemas.microsoft.com/office/drawing/2014/main" val="2410349636"/>
                    </a:ext>
                  </a:extLst>
                </a:gridCol>
              </a:tblGrid>
              <a:tr h="650454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960009"/>
                  </a:ext>
                </a:extLst>
              </a:tr>
              <a:tr h="1150804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Concatenar texto</a:t>
                      </a:r>
                    </a:p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(Sumar texto)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“Hola” + “ mundo”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“Hola mundo”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341452"/>
                  </a:ext>
                </a:extLst>
              </a:tr>
              <a:tr h="1285765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Repetir el texto una determinada cantidad de veces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“Programación” *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</a:t>
                      </a: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ProgramaciónProgramaciónProgramación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563185"/>
                  </a:ext>
                </a:extLst>
              </a:tr>
              <a:tr h="650454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Obtener el largo del 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(“Universidad)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688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27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4A137-E7F8-FFBA-B557-0B967F60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C3948CB-9954-E8DB-E409-27EE3D34C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0EBAF9-EB28-8441-41A3-1E2FF956C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F6DAF3-367B-E59E-34D3-01AEE31E0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E96557-5275-0453-8BC6-F6748F6C6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F43429-ED28-D360-F758-5B3408F33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CBBE66-C5A9-83AE-995E-973AD4F4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Operadores de comparación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9D6DA9-0B29-ACE1-13B3-BC7703B9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84D4B8C-7866-5547-1BCF-C69F726C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D0583EA-7848-F3B9-B5AE-66D45044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9</a:t>
            </a:fld>
            <a:endParaRPr lang="es-CL" noProof="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75FF936-CA0D-7C59-4F06-C0048BD27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869928"/>
              </p:ext>
            </p:extLst>
          </p:nvPr>
        </p:nvGraphicFramePr>
        <p:xfrm>
          <a:off x="2029828" y="2138793"/>
          <a:ext cx="8132340" cy="3447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085">
                  <a:extLst>
                    <a:ext uri="{9D8B030D-6E8A-4147-A177-3AD203B41FA5}">
                      <a16:colId xmlns:a16="http://schemas.microsoft.com/office/drawing/2014/main" val="1559333618"/>
                    </a:ext>
                  </a:extLst>
                </a:gridCol>
                <a:gridCol w="2033085">
                  <a:extLst>
                    <a:ext uri="{9D8B030D-6E8A-4147-A177-3AD203B41FA5}">
                      <a16:colId xmlns:a16="http://schemas.microsoft.com/office/drawing/2014/main" val="3208565894"/>
                    </a:ext>
                  </a:extLst>
                </a:gridCol>
                <a:gridCol w="2033085">
                  <a:extLst>
                    <a:ext uri="{9D8B030D-6E8A-4147-A177-3AD203B41FA5}">
                      <a16:colId xmlns:a16="http://schemas.microsoft.com/office/drawing/2014/main" val="4202650018"/>
                    </a:ext>
                  </a:extLst>
                </a:gridCol>
                <a:gridCol w="2033085">
                  <a:extLst>
                    <a:ext uri="{9D8B030D-6E8A-4147-A177-3AD203B41FA5}">
                      <a16:colId xmlns:a16="http://schemas.microsoft.com/office/drawing/2014/main" val="2410349636"/>
                    </a:ext>
                  </a:extLst>
                </a:gridCol>
              </a:tblGrid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Significado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960009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Igual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==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341452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Distinto 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!=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513846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Mayor 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&gt;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563185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Menor 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 &lt;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700427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Mayor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&gt;=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246297"/>
                  </a:ext>
                </a:extLst>
              </a:tr>
              <a:tr h="492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Menor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&lt;=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859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18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544C5-5C77-1046-BD6E-30B81818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8BE0DAED-B712-40C2-045C-94B8E69A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8D5753AF-0CD4-2F16-0D8A-570717B34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313ABF51-08F5-2EEE-9390-7EFDA706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7033FA15-04FB-FA3A-0865-195C0B270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B50BDF7B-039B-AE99-E753-A5FB40E98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D4587ED-D239-B184-F5C1-F246E0AC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Condicionales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013D17C2-3196-2504-2948-216C7DB22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FD61D6F1-50ED-8631-EF1A-24818376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65C29B6B-C301-D9AA-5DB6-526428E3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C9962483-8D12-057A-DC1E-84A18B8D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6FB3F0DA-5297-8CBE-055E-78C8858F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10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A388A1-8013-0929-1598-77732A599D8A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</a:t>
            </a:r>
            <a:r>
              <a:rPr lang="es-CL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s-CL" sz="2800" b="1" noProof="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8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2410E-EF15-D547-8689-C3C4BF5F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9B7DDD-9AAD-C195-27A5-117F29FFF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FC99BA-083C-1F4E-8EE7-F74FF38A0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69F5DB-9DAB-0522-8160-118EA0C3D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2BE37C-34FC-74A3-E175-5160BDE5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8EB783-7E3F-0254-8518-9CA1735B9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B86857-B47E-CD55-200C-ED568468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Condicionales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136AA0-5E8E-0BA3-5035-28A673F4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B45FBC17-BC0D-E4C8-483C-A65020DE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F9929E9-68A6-DF04-F858-723126BA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11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12FB3D3-F557-57CA-6CB2-A7E9A44AA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532" y="2220257"/>
            <a:ext cx="4114800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Utilizar condicionales nos permite tener un control de flujo del código, ya que a través del uso del </a:t>
            </a:r>
            <a:r>
              <a:rPr lang="es-CL" b="1" u="sng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L" b="1" u="sng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y </a:t>
            </a:r>
            <a:r>
              <a:rPr lang="es-CL" b="1" u="sng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el código ejecutara un bloque de código u otro bloque dependiendo de la condición declarada previamente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7F9805-918C-D1F1-F00F-1F9BB8F2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666" y="2118836"/>
            <a:ext cx="6096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7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813C3-79A1-0F0B-D6DB-EE9D15A3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A2CCDC-6128-1E76-0919-0D8E33209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C787DC-A8A7-5DFB-66AA-9C50EB23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E1F2E-5AB3-F3F5-0B44-5306BF67A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025CC-5438-AF8C-2B76-28956FBB0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369023-3E2B-E9F2-B4A2-E5680BE29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07F72-7583-B096-33B0-F6A6DC2A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Importante (</a:t>
            </a:r>
            <a:r>
              <a:rPr lang="es-CL" sz="4000" noProof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indentación</a:t>
            </a:r>
            <a:r>
              <a:rPr lang="es-CL" sz="4000" noProof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7C3F25-842C-53CC-5FAD-BA9AD095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0FE89AE8-29B0-6D59-2835-18448023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8E5F6DD5-2800-594C-D832-40A564B1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12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6B363FD-3A53-F5BB-5225-2DBA4AFB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202150"/>
            <a:ext cx="4114800" cy="3683358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Al momento de escribir código en 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la 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indentación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 cumple un rol importante, ya que define que bloque de código pertenece a cada estructura (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algn="just">
              <a:buNone/>
            </a:pP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Si no se respeta la </a:t>
            </a: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indentación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 el programa puede dar errores o tener un comportamiento no deseado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64BD53-CF8E-5BBA-4D79-796A87D9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104" y="1877876"/>
            <a:ext cx="4396911" cy="434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44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03A36-FEDE-A9C0-3F40-9E67D236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52FB5C1-7B13-AF7E-064A-FF605E2CA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88602D-CAAA-0F7D-C589-F2B6AD049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9A0419-B1E4-65D6-6318-C93AD5306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676F7E-D2DF-1059-CF74-9CE54CAC2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1E92A0-D45A-4285-FD64-0DD69A0A7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F155FE-2E11-5F5C-A6BD-1615DDAC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Operadores lógicos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9D3B68-8B7D-EC5D-88D9-8CAD28C3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5DA35FC0-D2A5-E0D7-4CB9-78C11E6F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1141273-BF1F-41A9-E1E9-5FC68CC4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13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CB6CFF9-C761-AB9A-792A-61309ABD4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489" y="1412113"/>
            <a:ext cx="10077018" cy="168178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CL" sz="2600" noProof="0" dirty="0">
                <a:latin typeface="Calibri" panose="020F0502020204030204" pitchFamily="34" charset="0"/>
                <a:cs typeface="Calibri" panose="020F0502020204030204" pitchFamily="34" charset="0"/>
              </a:rPr>
              <a:t>Los operadores lógicos nos permiten combinar varias condiciones (True/False) para definirlas en una sola expresión (True/False), el uso de operadores lógicos es fundamental para el control de flujo de nuestro código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8CF2023-796A-9D89-8EB8-9F2894931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88868"/>
              </p:ext>
            </p:extLst>
          </p:nvPr>
        </p:nvGraphicFramePr>
        <p:xfrm>
          <a:off x="2031998" y="2564555"/>
          <a:ext cx="8128000" cy="367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617747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351339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538147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59975614"/>
                    </a:ext>
                  </a:extLst>
                </a:gridCol>
              </a:tblGrid>
              <a:tr h="459446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135897"/>
                  </a:ext>
                </a:extLst>
              </a:tr>
              <a:tr h="1208388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 (en lógica) (ambas verdaderas)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 and 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 and False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 and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720943"/>
                  </a:ext>
                </a:extLst>
              </a:tr>
              <a:tr h="1208388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 (en lógica) (al menos una verdadera)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 </a:t>
                      </a: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 </a:t>
                      </a: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False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 </a:t>
                      </a: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793143"/>
                  </a:ext>
                </a:extLst>
              </a:tr>
              <a:tr h="646347"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</a:t>
                      </a:r>
                      <a:endParaRPr lang="es-CL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True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</a:t>
                      </a: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False</a:t>
                      </a:r>
                    </a:p>
                    <a:p>
                      <a:pPr marL="342900" indent="-342900" algn="ctr">
                        <a:buFont typeface="+mj-lt"/>
                        <a:buAutoNum type="arabicPeriod"/>
                      </a:pPr>
                      <a:r>
                        <a:rPr lang="es-CL" sz="20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80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326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9CD8-93DB-B425-9FAC-BF81DC85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D6FF3FA5-6056-DF36-4DF7-757E4550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1CE5893C-A7C8-F332-8B41-FE1681E3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418CDC6C-0F8A-6A5A-637D-50BF55B3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14</a:t>
            </a:fld>
            <a:endParaRPr lang="es-CL" noProof="0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5521B5-DFD3-65E0-4D9D-64A1AC3A9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89" y="-150558"/>
            <a:ext cx="4480711" cy="119509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CL" b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Ejemplos: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7C7AF8-7460-D10F-5BA9-90863F8AF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8" y="1044532"/>
            <a:ext cx="5676912" cy="49495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B9E255-E241-FFA8-947F-6D9C01C1A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70" y="863910"/>
            <a:ext cx="5608620" cy="227850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EA92ADD-A78B-5599-7B37-FA34C21FE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971" y="3246539"/>
            <a:ext cx="4883217" cy="28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4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F9EC5-60CE-06BB-0A2F-250A4726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F106106D-49A2-FFEF-CC59-D74F9084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372B20F0-0CC9-7210-5BB6-57FE8F55F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FB5EAF4C-F534-D5AC-FD33-105C2DB24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D2BB18D7-C284-60A2-ABC7-82638644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Oval 33">
            <a:extLst>
              <a:ext uri="{FF2B5EF4-FFF2-40B4-BE49-F238E27FC236}">
                <a16:creationId xmlns:a16="http://schemas.microsoft.com/office/drawing/2014/main" id="{FE397193-5EAA-B6C6-818F-95CDE68A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650985F-E219-E056-5B4B-00961179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00" y="1872532"/>
            <a:ext cx="5624802" cy="16450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L" sz="4800" b="1" kern="12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394C922E-F108-C47A-A4A2-320F2A9CD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B5A0333C-DC8F-91E8-EB88-ACF4E6FD1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DFE8AD36-0AED-D1D3-504B-4FE6FF50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98E521E8-F44A-48DB-FA3A-312D2B33C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FE80CBC8-044C-843F-2C91-C9597547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15</a:t>
            </a:fld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535C7D3-D7CF-5B9D-A715-E0A001B40977}"/>
              </a:ext>
            </a:extLst>
          </p:cNvPr>
          <p:cNvSpPr txBox="1"/>
          <p:nvPr/>
        </p:nvSpPr>
        <p:spPr>
          <a:xfrm>
            <a:off x="911800" y="1891139"/>
            <a:ext cx="411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3910082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51B6E-8740-57C9-F5DD-776A0095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E8C6C6-7809-68C1-0224-08431BA6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12B0E-EBD6-282D-B074-F255FE63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E27D2A-FDCB-CAEB-4790-0B6976FD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EFAA56-4E67-5285-3D4F-39F31568C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2B973C-B95A-6AE9-3D23-F9CCD80C2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9A79C-1BD7-6DAB-72C3-47148DEA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C86923-5C39-F95D-4C90-B49744E8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1CE02C3A-F364-B87A-53FD-E7614344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86CEE8D6-F456-783C-B292-BE97FAF9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16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A83D8D2-789A-AD82-11F5-27323B77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200502"/>
            <a:ext cx="9895950" cy="36833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1: Detector de número par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El programa pide al usuario un número entero. Debe indicar si el número es par o impar.</a:t>
            </a:r>
          </a:p>
          <a:p>
            <a:pPr marL="0" indent="0" algn="just">
              <a:buNone/>
            </a:pPr>
            <a:r>
              <a:rPr lang="es-CL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Hint</a:t>
            </a:r>
            <a:r>
              <a:rPr lang="es-CL" noProof="0" dirty="0">
                <a:latin typeface="Calibri" panose="020F0502020204030204" pitchFamily="34" charset="0"/>
                <a:cs typeface="Calibri" panose="020F0502020204030204" pitchFamily="34" charset="0"/>
              </a:rPr>
              <a:t>: utiliza el operador %. Ejemplo: 10%2 = 0 (par)</a:t>
            </a:r>
          </a:p>
          <a:p>
            <a:pPr marL="0" indent="0" algn="just">
              <a:buNone/>
            </a:pPr>
            <a:r>
              <a:rPr lang="es-CL" sz="32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Ejercicio 2: Número mágico</a:t>
            </a:r>
          </a:p>
          <a:p>
            <a:pPr marL="0" indent="0" algn="just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Pide al usuario un número. Si el número es exactamente 7 muestra: '¡Encontraste el número mágico!'. En cualquier otro caso muestra: 'No es el número mágico'.</a:t>
            </a: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2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DDDB5-A3ED-60DF-5574-EA6AC592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E735D4-929B-0309-1EB5-37AB1F58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18E718-6131-FBAF-3E66-105B3BA8C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20EC05-87FC-10AD-ABDB-BC600AAC6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FB9E72-AD10-51FD-FB5D-69E9C12EB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34B58C-C2FD-3719-8D92-756460CA4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DE3E8B-6012-CA99-8753-AE9584AC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800B85-3A76-866D-84E9-C59859FE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9537B57-9103-80B4-BBC8-A60E6304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1793C38-D9E7-3236-13C4-5717212B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17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E1EA4C8-E44D-5AD2-AEEC-47FBEE682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200502"/>
            <a:ext cx="9895950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3: Termómetro simple </a:t>
            </a:r>
          </a:p>
          <a:p>
            <a:pPr marL="0" indent="0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Pide al usuario una temperatura en grados Celsius. Indica si la temperatura es fría (menos de 10), templada (10–25) o calurosa (más de 25). </a:t>
            </a:r>
          </a:p>
          <a:p>
            <a:pPr marL="0" indent="0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4: Guardia de acceso </a:t>
            </a:r>
          </a:p>
          <a:p>
            <a:pPr marL="0" indent="0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Pide al usuario su edad. Si tiene 18 o más puede entrar al evento. Si no, muestra un mensaje indicando que no tiene edad suficiente.</a:t>
            </a: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42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EFCE4-4242-8B52-82D2-5ADFAF1A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9F17A80-A58A-9A7A-C78B-E8595DCDA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5A93D2-2867-B7E6-586D-6993D0AC5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36F94C-A0FC-60DE-0C11-357AC440C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68E695-AF9C-2456-C9CC-A1ECC474A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7D97F5-CA3E-108A-EF33-AD2C57AA8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672A71-07F5-B656-7C35-9D02AC8F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30AF4F-7B5C-DC52-0651-B1C3494B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EAE84E5E-481C-4E52-A9AF-7D85E895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E8A312C8-EDDB-7C2A-33AB-8C0C6AE1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18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9734008-8A5D-236C-EDAB-BF0D5A11E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119020"/>
            <a:ext cx="9895950" cy="388662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CL" sz="35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5: Comparador de números </a:t>
            </a:r>
          </a:p>
          <a:p>
            <a:pPr marL="0" indent="0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Pide dos números al usuario. Indica cuál es mayor o si ambos son iguales. </a:t>
            </a:r>
          </a:p>
          <a:p>
            <a:pPr marL="0" indent="0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Nota: no utilizar la función </a:t>
            </a:r>
            <a:r>
              <a:rPr lang="es-CL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(), utiliza </a:t>
            </a:r>
            <a:r>
              <a:rPr lang="es-CL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L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CL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es-CL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s-CL" sz="35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6: Clasificador de velocidad </a:t>
            </a:r>
          </a:p>
          <a:p>
            <a:pPr marL="0" indent="0" algn="just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Pide una velocidad en km/h. Clasifica el movimiento como:</a:t>
            </a:r>
          </a:p>
          <a:p>
            <a:pPr marL="0" indent="0" algn="just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• Lento (menos de 30)</a:t>
            </a:r>
          </a:p>
          <a:p>
            <a:pPr marL="0" indent="0" algn="just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• Normal (30–80)</a:t>
            </a:r>
          </a:p>
          <a:p>
            <a:pPr marL="0" indent="0" algn="just">
              <a:buNone/>
            </a:pPr>
            <a:r>
              <a:rPr lang="es-CL" sz="3000" dirty="0">
                <a:latin typeface="Calibri" panose="020F0502020204030204" pitchFamily="34" charset="0"/>
                <a:cs typeface="Calibri" panose="020F0502020204030204" pitchFamily="34" charset="0"/>
              </a:rPr>
              <a:t>• Rápido (más de 80)</a:t>
            </a:r>
            <a:endParaRPr lang="es-CL" sz="3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6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B76E3-5362-6226-369C-A84CAC82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B13E92B-524D-6BEF-92B8-8E2CBFACB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0A2AEA-CD28-BE7F-C16E-F35EE4A62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BD73FC-EE09-B1E6-5D25-B86EEB3C9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7A6F5-B664-CC86-C405-F87B71253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1A26F8-BC0F-B21B-B912-6A846AE0E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7E020-E95F-16C4-298B-C95FD268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Ejercitación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352B1A-DB01-F9EB-72F0-D702BA8F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 noProof="0"/>
              <a:t>Fecha: 17-03-2026</a:t>
            </a:r>
            <a:endParaRPr lang="es-CL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70769E33-82D3-A655-1DFD-520B0450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noProof="0"/>
              <a:t>Ayudantía N°1 Programación Sec: 12 CIT1100</a:t>
            </a:r>
            <a:endParaRPr lang="es-CL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7E65F2C-F194-1CA6-74E4-74567A0C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F80-F03A-4A29-8C5E-6F4C091E8B9F}" type="slidenum">
              <a:rPr lang="es-CL" noProof="0" smtClean="0"/>
              <a:t>19</a:t>
            </a:fld>
            <a:endParaRPr lang="es-CL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B320445-1DF6-805A-D8BC-9F89920E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3" y="2200502"/>
            <a:ext cx="9895950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7: Verificador de contraseña simple </a:t>
            </a:r>
          </a:p>
          <a:p>
            <a:pPr marL="0" indent="0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Pide una contraseña al usuario. Si la contraseña es 'python123' muestra 'Acceso permitido'. En caso contrario muestra 'Acceso denegado’. </a:t>
            </a:r>
          </a:p>
          <a:p>
            <a:pPr marL="0" indent="0">
              <a:buNone/>
            </a:pPr>
            <a:r>
              <a:rPr lang="es-CL" sz="3200" b="1" dirty="0">
                <a:latin typeface="Calibri" panose="020F0502020204030204" pitchFamily="34" charset="0"/>
                <a:cs typeface="Calibri" panose="020F0502020204030204" pitchFamily="34" charset="0"/>
              </a:rPr>
              <a:t>Ejercicio 8: Calculadora de área de rectángulo </a:t>
            </a:r>
          </a:p>
          <a:p>
            <a:pPr marL="0" indent="0">
              <a:buNone/>
            </a:pP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Pide el ancho y el alto de un rectángulo. Calcula su área. Luego indica si el rectángulo es pequeño (área &lt; 20), mediano (20–50) o grande (&gt;50).</a:t>
            </a:r>
            <a:endParaRPr lang="es-C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09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1178</Words>
  <Application>Microsoft Office PowerPoint</Application>
  <PresentationFormat>Panorámica</PresentationFormat>
  <Paragraphs>228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Ayudantía 1  Tipos de datos, operadores y condicionales</vt:lpstr>
      <vt:lpstr>Tipos de datos</vt:lpstr>
      <vt:lpstr>Tipos de datos</vt:lpstr>
      <vt:lpstr>Presentación de PowerPoint</vt:lpstr>
      <vt:lpstr>Entrada y salida de datos</vt:lpstr>
      <vt:lpstr>Operadores</vt:lpstr>
      <vt:lpstr>Operadores aritméticos</vt:lpstr>
      <vt:lpstr>Operadores de texto</vt:lpstr>
      <vt:lpstr>Operadores de comparación</vt:lpstr>
      <vt:lpstr>Condicionales</vt:lpstr>
      <vt:lpstr>Condicionales</vt:lpstr>
      <vt:lpstr>Importante (indentación)</vt:lpstr>
      <vt:lpstr>Operadores lógicos</vt:lpstr>
      <vt:lpstr>Presentación de PowerPoint</vt:lpstr>
      <vt:lpstr>Ejercitación</vt:lpstr>
      <vt:lpstr>Ejercitación</vt:lpstr>
      <vt:lpstr>Ejercitación</vt:lpstr>
      <vt:lpstr>Ejercitación</vt:lpstr>
      <vt:lpstr>Ejercitación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Isaías Vásquez</dc:creator>
  <cp:lastModifiedBy>Isaías Vásquez</cp:lastModifiedBy>
  <cp:revision>10</cp:revision>
  <dcterms:created xsi:type="dcterms:W3CDTF">2026-03-14T18:55:42Z</dcterms:created>
  <dcterms:modified xsi:type="dcterms:W3CDTF">2026-03-17T03:56:28Z</dcterms:modified>
</cp:coreProperties>
</file>